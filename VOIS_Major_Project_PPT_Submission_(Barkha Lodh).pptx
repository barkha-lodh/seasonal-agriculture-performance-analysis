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20"/>
  </p:notesMasterIdLst>
  <p:handoutMasterIdLst>
    <p:handoutMasterId r:id="rId21"/>
  </p:handoutMasterIdLst>
  <p:sldIdLst>
    <p:sldId id="338" r:id="rId5"/>
    <p:sldId id="348" r:id="rId6"/>
    <p:sldId id="315" r:id="rId7"/>
    <p:sldId id="329" r:id="rId8"/>
    <p:sldId id="302" r:id="rId9"/>
    <p:sldId id="339" r:id="rId10"/>
    <p:sldId id="346" r:id="rId11"/>
    <p:sldId id="340" r:id="rId12"/>
    <p:sldId id="347" r:id="rId13"/>
    <p:sldId id="344" r:id="rId14"/>
    <p:sldId id="345" r:id="rId15"/>
    <p:sldId id="341" r:id="rId16"/>
    <p:sldId id="342" r:id="rId17"/>
    <p:sldId id="343" r:id="rId18"/>
    <p:sldId id="304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85" autoAdjust="0"/>
    <p:restoredTop sz="94582" autoAdjust="0"/>
  </p:normalViewPr>
  <p:slideViewPr>
    <p:cSldViewPr snapToGrid="0">
      <p:cViewPr varScale="1">
        <p:scale>
          <a:sx n="72" d="100"/>
          <a:sy n="72" d="100"/>
        </p:scale>
        <p:origin x="376" y="60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9/13/2026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9/13/2026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9/13/2026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6540" y="3554836"/>
            <a:ext cx="8289680" cy="12185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0" dirty="0">
                <a:solidFill>
                  <a:schemeClr val="tx1"/>
                </a:solidFill>
              </a:rPr>
              <a:t>Student Name : Barkha Vaibhavkishor Lodh </a:t>
            </a:r>
            <a:endParaRPr lang="en-IN" b="0" dirty="0">
              <a:solidFill>
                <a:schemeClr val="tx1"/>
              </a:solidFill>
            </a:endParaRPr>
          </a:p>
          <a:p>
            <a:r>
              <a:rPr lang="en-US" b="0" dirty="0">
                <a:solidFill>
                  <a:schemeClr val="tx1"/>
                </a:solidFill>
              </a:rPr>
              <a:t>College Name : Guru Nanak Khalsa College of Arts, Science &amp; Commerce (Autonomous) 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6" y="2767955"/>
            <a:ext cx="7671089" cy="743448"/>
          </a:xfrm>
        </p:spPr>
        <p:txBody>
          <a:bodyPr>
            <a:normAutofit fontScale="90000"/>
          </a:bodyPr>
          <a:lstStyle/>
          <a:p>
            <a:r>
              <a:rPr lang="en-GB" sz="3200" dirty="0"/>
              <a:t>Project Title - </a:t>
            </a:r>
            <a:r>
              <a:rPr lang="en-IN" dirty="0"/>
              <a:t>Seasonal Agriculture Performance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675956" y="4816769"/>
            <a:ext cx="53053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 STU6a6c5319c72ac1785484057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75957" y="1530620"/>
            <a:ext cx="6480698" cy="4664623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r>
              <a:rPr lang="en-US" altLang="en-US" sz="2200" dirty="0"/>
              <a:t>Agricultural</a:t>
            </a:r>
            <a:r>
              <a:rPr lang="en-US" altLang="en-US" sz="22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200" dirty="0"/>
              <a:t>performance varies across different seasons due to changes in rainfall, temperature, soil conditions, irrigation, fertilizer usage, and disease/pest risk.</a:t>
            </a:r>
            <a:r>
              <a:rPr lang="en-US" altLang="en-US" sz="2200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</a:p>
          <a:p>
            <a:r>
              <a:rPr lang="en-US" sz="2200" dirty="0"/>
              <a:t>Raw agricultural data does not clearly reveal how these factors influence crop yield, production, resource usage, revenue, and profit.</a:t>
            </a:r>
          </a:p>
          <a:p>
            <a:r>
              <a:rPr lang="en-US" sz="2200" dirty="0"/>
              <a:t>Therefore, there is a need to analyze the data to identify seasonal patterns, relationships, variations, and differences in agricultural performance.</a:t>
            </a:r>
          </a:p>
          <a:p>
            <a:r>
              <a:rPr lang="en-US" sz="2200" dirty="0"/>
              <a:t>The project aims to provide data-driven insights for better seasonal agricultural planning and decision-making.</a:t>
            </a:r>
          </a:p>
          <a:p>
            <a:endParaRPr lang="en-US" altLang="en-US" sz="2800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>
              <a:lnSpc>
                <a:spcPct val="100000"/>
              </a:lnSpc>
            </a:pPr>
            <a:endParaRPr lang="en-US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290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122" y="1630291"/>
            <a:ext cx="7847258" cy="4780170"/>
          </a:xfrm>
        </p:spPr>
        <p:txBody>
          <a:bodyPr>
            <a:normAutofit fontScale="90000"/>
          </a:bodyPr>
          <a:lstStyle/>
          <a:p>
            <a:pPr lvl="0" defTabSz="914400" eaLnBrk="0" fontAlgn="base" hangingPunct="0">
              <a:spcAft>
                <a:spcPct val="0"/>
              </a:spcAft>
            </a:pPr>
            <a:r>
              <a:rPr lang="en-US" altLang="en-US" sz="2200" dirty="0">
                <a:latin typeface="+mn-lt"/>
              </a:rPr>
              <a:t>Data Exploration &amp; Cleaning</a:t>
            </a:r>
            <a:r>
              <a:rPr lang="en-US" altLang="en-US" sz="2200" b="0" dirty="0">
                <a:latin typeface="+mn-lt"/>
              </a:rPr>
              <a:t> — Understand and prepare the dataset. </a:t>
            </a:r>
            <a:br>
              <a:rPr lang="en-US" altLang="en-US" sz="2200" b="0" dirty="0">
                <a:latin typeface="+mn-lt"/>
              </a:rPr>
            </a:br>
            <a:r>
              <a:rPr lang="en-US" altLang="en-US" sz="2200" dirty="0">
                <a:latin typeface="+mn-lt"/>
              </a:rPr>
              <a:t>Univariate Analysis</a:t>
            </a:r>
            <a:r>
              <a:rPr lang="en-US" altLang="en-US" sz="2200" b="0" dirty="0">
                <a:latin typeface="+mn-lt"/>
              </a:rPr>
              <a:t> — Analyze individual agricultural variables. </a:t>
            </a:r>
            <a:br>
              <a:rPr lang="en-US" altLang="en-US" sz="2200" b="0" dirty="0">
                <a:latin typeface="+mn-lt"/>
              </a:rPr>
            </a:br>
            <a:r>
              <a:rPr lang="en-US" altLang="en-US" sz="2200" dirty="0">
                <a:latin typeface="+mn-lt"/>
              </a:rPr>
              <a:t>Bivariate Analysis</a:t>
            </a:r>
            <a:r>
              <a:rPr lang="en-US" altLang="en-US" sz="2200" b="0" dirty="0">
                <a:latin typeface="+mn-lt"/>
              </a:rPr>
              <a:t> — Study relationships such as </a:t>
            </a:r>
            <a:r>
              <a:rPr lang="en-US" altLang="en-US" sz="2200" dirty="0">
                <a:latin typeface="+mn-lt"/>
              </a:rPr>
              <a:t>Rainfall vs Yield</a:t>
            </a:r>
            <a:r>
              <a:rPr lang="en-US" altLang="en-US" sz="2200" b="0" dirty="0">
                <a:latin typeface="+mn-lt"/>
              </a:rPr>
              <a:t> and </a:t>
            </a:r>
            <a:r>
              <a:rPr lang="en-US" altLang="en-US" sz="2200" dirty="0">
                <a:latin typeface="+mn-lt"/>
              </a:rPr>
              <a:t>Farm Area vs Production</a:t>
            </a:r>
            <a:r>
              <a:rPr lang="en-US" altLang="en-US" sz="2200" b="0" dirty="0">
                <a:latin typeface="+mn-lt"/>
              </a:rPr>
              <a:t>. </a:t>
            </a:r>
            <a:br>
              <a:rPr lang="en-US" altLang="en-US" sz="2200" b="0" dirty="0">
                <a:latin typeface="+mn-lt"/>
              </a:rPr>
            </a:br>
            <a:r>
              <a:rPr lang="en-US" altLang="en-US" sz="2200" dirty="0">
                <a:latin typeface="+mn-lt"/>
              </a:rPr>
              <a:t>Multivariate Analysis</a:t>
            </a:r>
            <a:r>
              <a:rPr lang="en-US" altLang="en-US" sz="2200" b="0" dirty="0">
                <a:latin typeface="+mn-lt"/>
              </a:rPr>
              <a:t> — Examine multiple agricultural factors together. </a:t>
            </a:r>
            <a:br>
              <a:rPr lang="en-US" altLang="en-US" sz="2200" b="0" dirty="0">
                <a:latin typeface="+mn-lt"/>
              </a:rPr>
            </a:br>
            <a:r>
              <a:rPr lang="en-US" altLang="en-US" sz="2200" dirty="0">
                <a:latin typeface="+mn-lt"/>
              </a:rPr>
              <a:t>Seasonal Comparison</a:t>
            </a:r>
            <a:r>
              <a:rPr lang="en-US" altLang="en-US" sz="2200" b="0" dirty="0">
                <a:latin typeface="+mn-lt"/>
              </a:rPr>
              <a:t> — Compare yield, production, revenue, cost, profit, and resource usage across seasons. </a:t>
            </a:r>
            <a:br>
              <a:rPr lang="en-US" altLang="en-US" sz="2200" b="0" dirty="0">
                <a:latin typeface="+mn-lt"/>
              </a:rPr>
            </a:br>
            <a:r>
              <a:rPr lang="en-US" altLang="en-US" sz="2200" dirty="0">
                <a:latin typeface="+mn-lt"/>
              </a:rPr>
              <a:t>Statistical Analysis</a:t>
            </a:r>
            <a:r>
              <a:rPr lang="en-US" altLang="en-US" sz="2200" b="0" dirty="0">
                <a:latin typeface="+mn-lt"/>
              </a:rPr>
              <a:t> — Identify significant differences and relationships. </a:t>
            </a:r>
            <a:br>
              <a:rPr lang="en-US" altLang="en-US" sz="2200" b="0" dirty="0">
                <a:latin typeface="+mn-lt"/>
              </a:rPr>
            </a:br>
            <a:r>
              <a:rPr lang="en-US" altLang="en-US" sz="2200" dirty="0">
                <a:latin typeface="+mn-lt"/>
              </a:rPr>
              <a:t>Visualization</a:t>
            </a:r>
            <a:r>
              <a:rPr lang="en-US" altLang="en-US" sz="2200" b="0" dirty="0">
                <a:latin typeface="+mn-lt"/>
              </a:rPr>
              <a:t> — Use charts, scatterplots, boxplots, and heatmaps to identify patterns. </a:t>
            </a:r>
            <a:br>
              <a:rPr lang="en-US" altLang="en-US" sz="2200" b="0" dirty="0">
                <a:latin typeface="+mn-lt"/>
              </a:rPr>
            </a:br>
            <a:r>
              <a:rPr lang="en-US" altLang="en-US" sz="2200" dirty="0">
                <a:latin typeface="+mn-lt"/>
              </a:rPr>
              <a:t>Insights &amp; Recommendations</a:t>
            </a:r>
            <a:r>
              <a:rPr lang="en-US" altLang="en-US" sz="2200" b="0" dirty="0">
                <a:latin typeface="+mn-lt"/>
              </a:rPr>
              <a:t> — Provide evidence-based suggestions for agricultural planning.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11" name="Title 3">
            <a:extLst>
              <a:ext uri="{FF2B5EF4-FFF2-40B4-BE49-F238E27FC236}">
                <a16:creationId xmlns:a16="http://schemas.microsoft.com/office/drawing/2014/main" id="{9DB338CC-49DB-2268-0F38-6C555E415716}"/>
              </a:ext>
            </a:extLst>
          </p:cNvPr>
          <p:cNvSpPr txBox="1">
            <a:spLocks/>
          </p:cNvSpPr>
          <p:nvPr/>
        </p:nvSpPr>
        <p:spPr>
          <a:xfrm>
            <a:off x="550122" y="229291"/>
            <a:ext cx="6995604" cy="151005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375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sz="12500" dirty="0"/>
              <a:t>Project Description</a:t>
            </a:r>
          </a:p>
          <a:p>
            <a:r>
              <a:rPr lang="en-US" sz="5300" dirty="0"/>
              <a:t>Seasonal Agricultural Performance</a:t>
            </a:r>
            <a:br>
              <a:rPr lang="en-US" sz="5300" dirty="0"/>
            </a:br>
            <a:r>
              <a:rPr lang="en-US" sz="5300" b="0" dirty="0"/>
              <a:t>This project analyzes agricultural data to understand how farming performance changes across different seasons.</a:t>
            </a:r>
            <a:endParaRPr lang="en-IN" sz="5300" dirty="0"/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035015"/>
            <a:ext cx="7904481" cy="4770167"/>
          </a:xfrm>
        </p:spPr>
        <p:txBody>
          <a:bodyPr>
            <a:normAutofit fontScale="25000" lnSpcReduction="20000"/>
          </a:bodyPr>
          <a:lstStyle/>
          <a:p>
            <a:r>
              <a:rPr lang="en-US" sz="8000" b="1" dirty="0"/>
              <a:t>Farmers</a:t>
            </a:r>
            <a:endParaRPr lang="en-US" sz="8000" dirty="0"/>
          </a:p>
          <a:p>
            <a:pPr marL="0" indent="0">
              <a:buNone/>
            </a:pPr>
            <a:r>
              <a:rPr lang="en-US" sz="8000" dirty="0"/>
              <a:t>Select suitable crops and seasons. </a:t>
            </a:r>
          </a:p>
          <a:p>
            <a:pPr marL="0" indent="0">
              <a:buNone/>
            </a:pPr>
            <a:r>
              <a:rPr lang="en-US" sz="8000" dirty="0"/>
              <a:t>Improve water, fertilizer, and resource utilization. </a:t>
            </a:r>
          </a:p>
          <a:p>
            <a:pPr marL="0" indent="0">
              <a:buNone/>
            </a:pPr>
            <a:r>
              <a:rPr lang="en-US" sz="8000" dirty="0"/>
              <a:t>Understand factors affecting yield and profitability. </a:t>
            </a:r>
          </a:p>
          <a:p>
            <a:pPr marL="0" indent="0">
              <a:buNone/>
            </a:pPr>
            <a:endParaRPr lang="en-US" sz="8000" dirty="0"/>
          </a:p>
          <a:p>
            <a:r>
              <a:rPr lang="en-US" sz="8000" b="1" dirty="0"/>
              <a:t>Government &amp; Agricultural Departments</a:t>
            </a:r>
            <a:endParaRPr lang="en-US" sz="8000" dirty="0"/>
          </a:p>
          <a:p>
            <a:pPr marL="0" indent="0">
              <a:buNone/>
            </a:pPr>
            <a:r>
              <a:rPr lang="en-US" sz="8000" dirty="0"/>
              <a:t>Support agricultural policies and seasonal planning. </a:t>
            </a:r>
          </a:p>
          <a:p>
            <a:pPr marL="0" indent="0">
              <a:buNone/>
            </a:pPr>
            <a:r>
              <a:rPr lang="en-US" sz="8000" dirty="0"/>
              <a:t>Improve resource allocation. </a:t>
            </a:r>
          </a:p>
          <a:p>
            <a:pPr marL="0" indent="0">
              <a:buNone/>
            </a:pPr>
            <a:r>
              <a:rPr lang="en-US" sz="8000" dirty="0"/>
              <a:t>Identify areas requiring additional support. </a:t>
            </a:r>
          </a:p>
          <a:p>
            <a:pPr marL="0" indent="0">
              <a:buNone/>
            </a:pPr>
            <a:endParaRPr lang="en-US" sz="8000" dirty="0"/>
          </a:p>
          <a:p>
            <a:r>
              <a:rPr lang="en-US" sz="8000" b="1" dirty="0"/>
              <a:t>Agricultural Researchers</a:t>
            </a:r>
            <a:endParaRPr lang="en-US" sz="8000" dirty="0"/>
          </a:p>
          <a:p>
            <a:pPr marL="0" indent="0">
              <a:buNone/>
            </a:pPr>
            <a:r>
              <a:rPr lang="en-US" sz="8000" dirty="0"/>
              <a:t>Study seasonal patterns and crop performance. </a:t>
            </a:r>
          </a:p>
          <a:p>
            <a:pPr marL="0" indent="0">
              <a:buNone/>
            </a:pPr>
            <a:r>
              <a:rPr lang="en-US" sz="8000" dirty="0"/>
              <a:t>Analyze relationships between environmental conditions and yield. 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75" y="348111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10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1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1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10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5" dur="1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90618" y="1432560"/>
            <a:ext cx="9027702" cy="5243448"/>
          </a:xfrm>
        </p:spPr>
        <p:txBody>
          <a:bodyPr/>
          <a:lstStyle/>
          <a:p>
            <a:pPr lvl="1">
              <a:lnSpc>
                <a:spcPct val="150000"/>
              </a:lnSpc>
            </a:pPr>
            <a:r>
              <a:rPr lang="en-IN" dirty="0"/>
              <a:t>Python : Programming and data analysis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Google </a:t>
            </a:r>
            <a:r>
              <a:rPr lang="en-IN" dirty="0" err="1"/>
              <a:t>Colab</a:t>
            </a:r>
            <a:r>
              <a:rPr lang="en-IN" dirty="0"/>
              <a:t> : Development and execution platform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Pandas : Data cleaning and manipulation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NumPy : Numerical calculations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Matplotlib : Data visualization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Seaborn : Statistical visualization</a:t>
            </a:r>
          </a:p>
          <a:p>
            <a:pPr lvl="1">
              <a:lnSpc>
                <a:spcPct val="150000"/>
              </a:lnSpc>
            </a:pPr>
            <a:r>
              <a:rPr lang="en-IN" dirty="0"/>
              <a:t>CSV : Dataset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C0DFAC1-FA13-12CD-1A34-1F9A429855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839" y="1201586"/>
            <a:ext cx="6996418" cy="5463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57B0563D-C4B2-5B45-43A4-84E7579DF3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130" y="1515454"/>
            <a:ext cx="7563242" cy="4924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9C5465DA-C7E7-8D7B-CB51-D17B65DF8D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633" y="1201586"/>
            <a:ext cx="7050903" cy="5562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FC440660-34C1-2622-9741-94DAD87C35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915" y="1169582"/>
            <a:ext cx="8113967" cy="5495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8702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C7632089-5F90-036E-DE91-10744D6DFB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982" y="1105066"/>
            <a:ext cx="7617799" cy="5463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[Add screen shots of your code ]</a:t>
            </a:r>
            <a:endParaRPr lang="en-IN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C48F9901-D8E7-AB58-393D-BA8F83CCD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4710" y="1048625"/>
            <a:ext cx="9020960" cy="5616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F911C1F-9109-8749-5656-FC57F624523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20982" y="1029889"/>
            <a:ext cx="9027702" cy="4271953"/>
          </a:xfrm>
        </p:spPr>
        <p:txBody>
          <a:bodyPr>
            <a:normAutofit/>
          </a:bodyPr>
          <a:lstStyle/>
          <a:p>
            <a:r>
              <a:rPr lang="en-US" dirty="0"/>
              <a:t> </a:t>
            </a:r>
            <a:r>
              <a:rPr lang="en-US" b="1" dirty="0"/>
              <a:t>Machine Learning</a:t>
            </a:r>
            <a:r>
              <a:rPr lang="en-US" dirty="0"/>
              <a:t> — Predict crop yield and profitability. </a:t>
            </a:r>
          </a:p>
          <a:p>
            <a:r>
              <a:rPr lang="en-US" b="1" dirty="0"/>
              <a:t>Weather Integration</a:t>
            </a:r>
            <a:r>
              <a:rPr lang="en-US" dirty="0"/>
              <a:t> — Use real-time weather and forecast data. </a:t>
            </a:r>
          </a:p>
          <a:p>
            <a:r>
              <a:rPr lang="en-US" b="1" dirty="0"/>
              <a:t>Crop Recommendation</a:t>
            </a:r>
            <a:r>
              <a:rPr lang="en-US" dirty="0"/>
              <a:t> — Recommend suitable crops based on season, soil, and climate. </a:t>
            </a:r>
          </a:p>
          <a:p>
            <a:r>
              <a:rPr lang="en-US" b="1" dirty="0"/>
              <a:t>Smart Irrigation</a:t>
            </a:r>
            <a:r>
              <a:rPr lang="en-US" dirty="0"/>
              <a:t> — Predict water requirements and optimize irrigation. </a:t>
            </a:r>
          </a:p>
          <a:p>
            <a:r>
              <a:rPr lang="en-US" b="1" dirty="0"/>
              <a:t>Disease Prediction</a:t>
            </a:r>
            <a:r>
              <a:rPr lang="en-US" dirty="0"/>
              <a:t> — Predict crop disease and pest risks. </a:t>
            </a:r>
          </a:p>
          <a:p>
            <a:r>
              <a:rPr lang="en-US" b="1" dirty="0"/>
              <a:t>Interactive Dashboard</a:t>
            </a:r>
            <a:r>
              <a:rPr lang="en-US" dirty="0"/>
              <a:t> — Develop dashboards using Power BI, Tableau, or </a:t>
            </a:r>
            <a:r>
              <a:rPr lang="en-US" dirty="0" err="1"/>
              <a:t>streamlit</a:t>
            </a:r>
            <a:r>
              <a:rPr lang="en-US" dirty="0"/>
              <a:t>. </a:t>
            </a:r>
          </a:p>
          <a:p>
            <a:r>
              <a:rPr lang="en-US" b="1" dirty="0"/>
              <a:t>IoT Integration</a:t>
            </a:r>
            <a:r>
              <a:rPr lang="en-US" dirty="0"/>
              <a:t> — Use sensors for real-time soil moisture, temperature, and environmental monitoring</a:t>
            </a:r>
          </a:p>
          <a:p>
            <a:pPr lvl="1">
              <a:lnSpc>
                <a:spcPct val="150000"/>
              </a:lnSpc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10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F0B37E4-66B1-8633-7266-68B321742757}"/>
              </a:ext>
            </a:extLst>
          </p:cNvPr>
          <p:cNvSpPr txBox="1"/>
          <p:nvPr/>
        </p:nvSpPr>
        <p:spPr>
          <a:xfrm>
            <a:off x="729256" y="1440320"/>
            <a:ext cx="72328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https://github.com/Barkha-Lodh/Seasonal-Agriculture-Performance-Analysis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F474E6-71ED-2B29-C967-F25C5688F4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957" y="1378958"/>
            <a:ext cx="8484821" cy="5092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C277FD7-925B-4C3D-A364-118403201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975013" y="3962573"/>
            <a:ext cx="2139696" cy="344312"/>
          </a:xfrm>
        </p:spPr>
        <p:txBody>
          <a:bodyPr>
            <a:normAutofit fontScale="92500" lnSpcReduction="20000"/>
          </a:bodyPr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2825</TotalTime>
  <Words>499</Words>
  <Application>Microsoft Office PowerPoint</Application>
  <PresentationFormat>Widescreen</PresentationFormat>
  <Paragraphs>58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Trebuchet MS</vt:lpstr>
      <vt:lpstr>Wingdings</vt:lpstr>
      <vt:lpstr>Wingdings 3</vt:lpstr>
      <vt:lpstr>Facet</vt:lpstr>
      <vt:lpstr>Project Title - Seasonal Agriculture Performance</vt:lpstr>
      <vt:lpstr>PROBLEM  STATEMENT</vt:lpstr>
      <vt:lpstr>Data Exploration &amp; Cleaning — Understand and prepare the dataset.  Univariate Analysis — Analyze individual agricultural variables.  Bivariate Analysis — Study relationships such as Rainfall vs Yield and Farm Area vs Production.  Multivariate Analysis — Examine multiple agricultural factors together.  Seasonal Comparison — Compare yield, production, revenue, cost, profit, and resource usage across seasons.  Statistical Analysis — Identify significant differences and relationships.  Visualization — Use charts, scatterplots, boxplots, and heatmaps to identify patterns.  Insights &amp; Recommendations — Provide evidence-based suggestions for agricultural planning.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Barkha</cp:lastModifiedBy>
  <cp:revision>103</cp:revision>
  <dcterms:created xsi:type="dcterms:W3CDTF">2021-07-11T13:13:15Z</dcterms:created>
  <dcterms:modified xsi:type="dcterms:W3CDTF">2026-09-14T18:17:49Z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